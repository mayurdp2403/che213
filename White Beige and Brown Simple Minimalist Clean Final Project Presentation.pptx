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Open Sauce" charset="1" panose="00000500000000000000"/>
      <p:regular r:id="rId17"/>
    </p:embeddedFont>
    <p:embeddedFont>
      <p:font typeface="Open Sauce Bold" charset="1" panose="00000800000000000000"/>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3386490"/>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Mass</a:t>
            </a:r>
          </a:p>
          <a:p>
            <a:pPr algn="l">
              <a:lnSpc>
                <a:spcPts val="13040"/>
              </a:lnSpc>
            </a:pPr>
            <a:r>
              <a:rPr lang="en-US" sz="13040" spc="-782">
                <a:solidFill>
                  <a:srgbClr val="331B0D"/>
                </a:solidFill>
                <a:latin typeface="Open Sauce"/>
                <a:ea typeface="Open Sauce"/>
                <a:cs typeface="Open Sauce"/>
                <a:sym typeface="Open Sauce"/>
              </a:rPr>
              <a:t>Transfer</a:t>
            </a:r>
          </a:p>
        </p:txBody>
      </p:sp>
      <p:sp>
        <p:nvSpPr>
          <p:cNvPr name="TextBox 3" id="3"/>
          <p:cNvSpPr txBox="true"/>
          <p:nvPr/>
        </p:nvSpPr>
        <p:spPr>
          <a:xfrm rot="0">
            <a:off x="12698616" y="6778625"/>
            <a:ext cx="4560684" cy="460374"/>
          </a:xfrm>
          <a:prstGeom prst="rect">
            <a:avLst/>
          </a:prstGeom>
        </p:spPr>
        <p:txBody>
          <a:bodyPr anchor="t" rtlCol="false" tIns="0" lIns="0" bIns="0" rIns="0">
            <a:spAutoFit/>
          </a:bodyPr>
          <a:lstStyle/>
          <a:p>
            <a:pPr algn="r">
              <a:lnSpc>
                <a:spcPts val="3499"/>
              </a:lnSpc>
              <a:spcBef>
                <a:spcPct val="0"/>
              </a:spcBef>
            </a:pPr>
            <a:r>
              <a:rPr lang="en-US" b="true" sz="3499" spc="349">
                <a:solidFill>
                  <a:srgbClr val="8C7753"/>
                </a:solidFill>
                <a:latin typeface="Open Sauce Bold"/>
                <a:ea typeface="Open Sauce Bold"/>
                <a:cs typeface="Open Sauce Bold"/>
                <a:sym typeface="Open Sauce Bold"/>
              </a:rPr>
              <a:t>GROUP 13</a:t>
            </a:r>
          </a:p>
        </p:txBody>
      </p:sp>
      <p:sp>
        <p:nvSpPr>
          <p:cNvPr name="TextBox 4" id="4"/>
          <p:cNvSpPr txBox="true"/>
          <p:nvPr/>
        </p:nvSpPr>
        <p:spPr>
          <a:xfrm rot="0">
            <a:off x="10782171" y="7181849"/>
            <a:ext cx="6477129" cy="2076451"/>
          </a:xfrm>
          <a:prstGeom prst="rect">
            <a:avLst/>
          </a:prstGeom>
        </p:spPr>
        <p:txBody>
          <a:bodyPr anchor="t" rtlCol="false" tIns="0" lIns="0" bIns="0" rIns="0">
            <a:spAutoFit/>
          </a:bodyPr>
          <a:lstStyle/>
          <a:p>
            <a:pPr algn="r">
              <a:lnSpc>
                <a:spcPts val="4199"/>
              </a:lnSpc>
            </a:pPr>
            <a:r>
              <a:rPr lang="en-US" sz="2999">
                <a:solidFill>
                  <a:srgbClr val="331B0D"/>
                </a:solidFill>
                <a:latin typeface="Open Sauce"/>
                <a:ea typeface="Open Sauce"/>
                <a:cs typeface="Open Sauce"/>
                <a:sym typeface="Open Sauce"/>
              </a:rPr>
              <a:t>Mayur Dilip Pachpute | 240643</a:t>
            </a:r>
          </a:p>
          <a:p>
            <a:pPr algn="r">
              <a:lnSpc>
                <a:spcPts val="4199"/>
              </a:lnSpc>
            </a:pPr>
            <a:r>
              <a:rPr lang="en-US" sz="2999">
                <a:solidFill>
                  <a:srgbClr val="331B0D"/>
                </a:solidFill>
                <a:latin typeface="Open Sauce"/>
                <a:ea typeface="Open Sauce"/>
                <a:cs typeface="Open Sauce"/>
                <a:sym typeface="Open Sauce"/>
              </a:rPr>
              <a:t>Priyanshu | 240805</a:t>
            </a:r>
          </a:p>
          <a:p>
            <a:pPr algn="r">
              <a:lnSpc>
                <a:spcPts val="4199"/>
              </a:lnSpc>
            </a:pPr>
            <a:r>
              <a:rPr lang="en-US" sz="2999">
                <a:solidFill>
                  <a:srgbClr val="331B0D"/>
                </a:solidFill>
                <a:latin typeface="Open Sauce"/>
                <a:ea typeface="Open Sauce"/>
                <a:cs typeface="Open Sauce"/>
                <a:sym typeface="Open Sauce"/>
              </a:rPr>
              <a:t>Ravi Kasotiya | 240855</a:t>
            </a:r>
          </a:p>
          <a:p>
            <a:pPr algn="r">
              <a:lnSpc>
                <a:spcPts val="4199"/>
              </a:lnSpc>
            </a:pPr>
            <a:r>
              <a:rPr lang="en-US" sz="2999">
                <a:solidFill>
                  <a:srgbClr val="331B0D"/>
                </a:solidFill>
                <a:latin typeface="Open Sauce"/>
                <a:ea typeface="Open Sauce"/>
                <a:cs typeface="Open Sauce"/>
                <a:sym typeface="Open Sauce"/>
              </a:rPr>
              <a:t>Roushan Upadhyay | 240886</a:t>
            </a:r>
          </a:p>
        </p:txBody>
      </p:sp>
      <p:sp>
        <p:nvSpPr>
          <p:cNvPr name="TextBox 5" id="5"/>
          <p:cNvSpPr txBox="true"/>
          <p:nvPr/>
        </p:nvSpPr>
        <p:spPr>
          <a:xfrm rot="0">
            <a:off x="1028700" y="1104900"/>
            <a:ext cx="4560684" cy="530224"/>
          </a:xfrm>
          <a:prstGeom prst="rect">
            <a:avLst/>
          </a:prstGeom>
        </p:spPr>
        <p:txBody>
          <a:bodyPr anchor="t" rtlCol="false" tIns="0" lIns="0" bIns="0" rIns="0">
            <a:spAutoFit/>
          </a:bodyPr>
          <a:lstStyle/>
          <a:p>
            <a:pPr algn="just">
              <a:lnSpc>
                <a:spcPts val="3999"/>
              </a:lnSpc>
              <a:spcBef>
                <a:spcPct val="0"/>
              </a:spcBef>
            </a:pPr>
            <a:r>
              <a:rPr lang="en-US" b="true" sz="3999" spc="399">
                <a:solidFill>
                  <a:srgbClr val="8C7753"/>
                </a:solidFill>
                <a:latin typeface="Open Sauce Bold"/>
                <a:ea typeface="Open Sauce Bold"/>
                <a:cs typeface="Open Sauce Bold"/>
                <a:sym typeface="Open Sauce Bold"/>
              </a:rPr>
              <a:t>CHE-213</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47922" y="1497030"/>
            <a:ext cx="16192155" cy="66611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Open Sauce Bold"/>
                <a:ea typeface="Open Sauce Bold"/>
                <a:cs typeface="Open Sauce Bold"/>
                <a:sym typeface="Open Sauce Bold"/>
              </a:rPr>
              <a:t>    </a:t>
            </a:r>
            <a:r>
              <a:rPr lang="en-US" b="true" sz="3999">
                <a:solidFill>
                  <a:srgbClr val="000000"/>
                </a:solidFill>
                <a:latin typeface="Open Sauce Bold"/>
                <a:ea typeface="Open Sauce Bold"/>
                <a:cs typeface="Open Sauce Bold"/>
                <a:sym typeface="Open Sauce Bold"/>
              </a:rPr>
              <a:t>Problem:</a:t>
            </a:r>
            <a:r>
              <a:rPr lang="en-US" sz="3999">
                <a:solidFill>
                  <a:srgbClr val="000000"/>
                </a:solidFill>
                <a:latin typeface="Open Sauce"/>
                <a:ea typeface="Open Sauce"/>
                <a:cs typeface="Open Sauce"/>
                <a:sym typeface="Open Sauce"/>
              </a:rPr>
              <a:t> Limitations of Manual Observation</a:t>
            </a:r>
          </a:p>
          <a:p>
            <a:pPr algn="l">
              <a:lnSpc>
                <a:spcPts val="3500"/>
              </a:lnSpc>
              <a:spcBef>
                <a:spcPct val="0"/>
              </a:spcBef>
            </a:pPr>
          </a:p>
          <a:p>
            <a:pPr algn="l" marL="539749" indent="-269875"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Fatigue &amp; Human Error:</a:t>
            </a:r>
            <a:r>
              <a:rPr lang="en-US" sz="2499">
                <a:solidFill>
                  <a:srgbClr val="000000"/>
                </a:solidFill>
                <a:latin typeface="Open Sauce"/>
                <a:ea typeface="Open Sauce"/>
                <a:cs typeface="Open Sauce"/>
                <a:sym typeface="Open Sauce"/>
              </a:rPr>
              <a:t> Counting tiny drops (2–4 mm) by eye over long extraction periods inevitably leads to eye strain, missed counts, and corrupted data.</a:t>
            </a:r>
          </a:p>
          <a:p>
            <a:pPr algn="l">
              <a:lnSpc>
                <a:spcPts val="3499"/>
              </a:lnSpc>
              <a:spcBef>
                <a:spcPct val="0"/>
              </a:spcBef>
            </a:pPr>
          </a:p>
          <a:p>
            <a:pPr algn="l">
              <a:lnSpc>
                <a:spcPts val="3499"/>
              </a:lnSpc>
              <a:spcBef>
                <a:spcPct val="0"/>
              </a:spcBef>
            </a:pPr>
          </a:p>
          <a:p>
            <a:pPr algn="l">
              <a:lnSpc>
                <a:spcPts val="5599"/>
              </a:lnSpc>
              <a:spcBef>
                <a:spcPct val="0"/>
              </a:spcBef>
            </a:pPr>
            <a:r>
              <a:rPr lang="en-US" sz="3999">
                <a:solidFill>
                  <a:srgbClr val="000000"/>
                </a:solidFill>
                <a:latin typeface="Open Sauce"/>
                <a:ea typeface="Open Sauce"/>
                <a:cs typeface="Open Sauce"/>
                <a:sym typeface="Open Sauce"/>
              </a:rPr>
              <a:t>    </a:t>
            </a:r>
            <a:r>
              <a:rPr lang="en-US" b="true" sz="3999">
                <a:solidFill>
                  <a:srgbClr val="000000"/>
                </a:solidFill>
                <a:latin typeface="Open Sauce Bold"/>
                <a:ea typeface="Open Sauce Bold"/>
                <a:cs typeface="Open Sauce Bold"/>
                <a:sym typeface="Open Sauce Bold"/>
              </a:rPr>
              <a:t>The Core Concept:</a:t>
            </a:r>
            <a:r>
              <a:rPr lang="en-US" sz="3999">
                <a:solidFill>
                  <a:srgbClr val="000000"/>
                </a:solidFill>
                <a:latin typeface="Open Sauce"/>
                <a:ea typeface="Open Sauce"/>
                <a:cs typeface="Open Sauce"/>
                <a:sym typeface="Open Sauce"/>
              </a:rPr>
              <a:t> A Software-Driven Observer</a:t>
            </a:r>
          </a:p>
          <a:p>
            <a:pPr algn="l">
              <a:lnSpc>
                <a:spcPts val="3499"/>
              </a:lnSpc>
              <a:spcBef>
                <a:spcPct val="0"/>
              </a:spcBef>
            </a:pPr>
          </a:p>
          <a:p>
            <a:pPr algn="l" marL="539749" indent="-269875"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The AS-DMTS Framework:</a:t>
            </a:r>
            <a:r>
              <a:rPr lang="en-US" sz="2499">
                <a:solidFill>
                  <a:srgbClr val="000000"/>
                </a:solidFill>
                <a:latin typeface="Open Sauce"/>
                <a:ea typeface="Open Sauce"/>
                <a:cs typeface="Open Sauce"/>
                <a:sym typeface="Open Sauce"/>
              </a:rPr>
              <a:t> Upgrading the laboratory setup by replacing manual human observation with a relentless, high-speed "Digital Eye" using OpenCV.</a:t>
            </a:r>
          </a:p>
          <a:p>
            <a:pPr algn="l">
              <a:lnSpc>
                <a:spcPts val="3499"/>
              </a:lnSpc>
              <a:spcBef>
                <a:spcPct val="0"/>
              </a:spcBef>
            </a:pPr>
          </a:p>
          <a:p>
            <a:pPr algn="l" marL="539749" indent="-269875"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Beyond Simple Counting:</a:t>
            </a:r>
            <a:r>
              <a:rPr lang="en-US" sz="2499">
                <a:solidFill>
                  <a:srgbClr val="000000"/>
                </a:solidFill>
                <a:latin typeface="Open Sauce"/>
                <a:ea typeface="Open Sauce"/>
                <a:cs typeface="Open Sauce"/>
                <a:sym typeface="Open Sauce"/>
              </a:rPr>
              <a:t> The software doesn't just tally drops; it maps the entire column and extracts spatial data (pixel coordinates, bounding boxes) that a human could never measure on the fly.</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215721"/>
            <a:ext cx="16192155" cy="5500041"/>
          </a:xfrm>
          <a:prstGeom prst="rect">
            <a:avLst/>
          </a:prstGeom>
        </p:spPr>
        <p:txBody>
          <a:bodyPr anchor="t" rtlCol="false" tIns="0" lIns="0" bIns="0" rIns="0">
            <a:spAutoFit/>
          </a:bodyPr>
          <a:lstStyle/>
          <a:p>
            <a:pPr algn="l" marL="539751" indent="-269876" lvl="1">
              <a:lnSpc>
                <a:spcPts val="3500"/>
              </a:lnSpc>
              <a:buFont typeface="Arial"/>
              <a:buChar char="•"/>
            </a:pPr>
            <a:r>
              <a:rPr lang="en-US" b="true" sz="2500">
                <a:solidFill>
                  <a:srgbClr val="000000"/>
                </a:solidFill>
                <a:latin typeface="Open Sauce Bold"/>
                <a:ea typeface="Open Sauce Bold"/>
                <a:cs typeface="Open Sauce Bold"/>
                <a:sym typeface="Open Sauce Bold"/>
              </a:rPr>
              <a:t>Digital Pre-Processing: </a:t>
            </a:r>
            <a:r>
              <a:rPr lang="en-US" sz="2500">
                <a:solidFill>
                  <a:srgbClr val="000000"/>
                </a:solidFill>
                <a:latin typeface="Open Sauce"/>
                <a:ea typeface="Open Sauce"/>
                <a:cs typeface="Open Sauce"/>
                <a:sym typeface="Open Sauce"/>
              </a:rPr>
              <a:t>We use tools like Contrast Enhancement (CLAHE) and Background Subtraction to digitally strip away laboratory distractions, allowing the algorithm to "see" better than a human.</a:t>
            </a:r>
          </a:p>
          <a:p>
            <a:pPr algn="l">
              <a:lnSpc>
                <a:spcPts val="3500"/>
              </a:lnSpc>
            </a:pPr>
          </a:p>
          <a:p>
            <a:pPr algn="l">
              <a:lnSpc>
                <a:spcPts val="5599"/>
              </a:lnSpc>
              <a:spcBef>
                <a:spcPct val="0"/>
              </a:spcBef>
            </a:pPr>
            <a:r>
              <a:rPr lang="en-US" b="true" sz="3999">
                <a:solidFill>
                  <a:srgbClr val="000000"/>
                </a:solidFill>
                <a:latin typeface="Open Sauce Bold"/>
                <a:ea typeface="Open Sauce Bold"/>
                <a:cs typeface="Open Sauce Bold"/>
                <a:sym typeface="Open Sauce Bold"/>
              </a:rPr>
              <a:t>    </a:t>
            </a:r>
            <a:r>
              <a:rPr lang="en-US" b="true" sz="3999">
                <a:solidFill>
                  <a:srgbClr val="000000"/>
                </a:solidFill>
                <a:latin typeface="Open Sauce Bold"/>
                <a:ea typeface="Open Sauce Bold"/>
                <a:cs typeface="Open Sauce Bold"/>
                <a:sym typeface="Open Sauce Bold"/>
              </a:rPr>
              <a:t>Th</a:t>
            </a:r>
            <a:r>
              <a:rPr lang="en-US" b="true" sz="3999">
                <a:solidFill>
                  <a:srgbClr val="000000"/>
                </a:solidFill>
                <a:latin typeface="Open Sauce Bold"/>
                <a:ea typeface="Open Sauce Bold"/>
                <a:cs typeface="Open Sauce Bold"/>
                <a:sym typeface="Open Sauce Bold"/>
              </a:rPr>
              <a:t>e Hypothesis</a:t>
            </a:r>
          </a:p>
          <a:p>
            <a:pPr algn="l">
              <a:lnSpc>
                <a:spcPts val="3500"/>
              </a:lnSpc>
              <a:spcBef>
                <a:spcPct val="0"/>
              </a:spcBef>
            </a:pPr>
          </a:p>
          <a:p>
            <a:pPr algn="l" marL="539751" indent="-269876" lvl="1">
              <a:lnSpc>
                <a:spcPts val="3500"/>
              </a:lnSpc>
              <a:spcBef>
                <a:spcPct val="0"/>
              </a:spcBef>
              <a:buFont typeface="Arial"/>
              <a:buChar char="•"/>
            </a:pPr>
            <a:r>
              <a:rPr lang="en-US" sz="2500">
                <a:solidFill>
                  <a:srgbClr val="000000"/>
                </a:solidFill>
                <a:latin typeface="Open Sauce"/>
                <a:ea typeface="Open Sauce"/>
                <a:cs typeface="Open Sauce"/>
                <a:sym typeface="Open Sauce"/>
              </a:rPr>
              <a:t>If w</a:t>
            </a:r>
            <a:r>
              <a:rPr lang="en-US" sz="2500">
                <a:solidFill>
                  <a:srgbClr val="000000"/>
                </a:solidFill>
                <a:latin typeface="Open Sauce"/>
                <a:ea typeface="Open Sauce"/>
                <a:cs typeface="Open Sauce"/>
                <a:sym typeface="Open Sauce"/>
              </a:rPr>
              <a:t>e digitize the observation process using a background-subtracted tracking matrix, we can completely eliminate human error..</a:t>
            </a:r>
          </a:p>
          <a:p>
            <a:pPr algn="l">
              <a:lnSpc>
                <a:spcPts val="3500"/>
              </a:lnSpc>
              <a:spcBef>
                <a:spcPct val="0"/>
              </a:spcBef>
            </a:pPr>
          </a:p>
          <a:p>
            <a:pPr algn="l" marL="539751" indent="-269876" lvl="1">
              <a:lnSpc>
                <a:spcPts val="3500"/>
              </a:lnSpc>
              <a:spcBef>
                <a:spcPct val="0"/>
              </a:spcBef>
              <a:buFont typeface="Arial"/>
              <a:buChar char="•"/>
            </a:pPr>
            <a:r>
              <a:rPr lang="en-US" sz="2500">
                <a:solidFill>
                  <a:srgbClr val="000000"/>
                </a:solidFill>
                <a:latin typeface="Open Sauce"/>
                <a:ea typeface="Open Sauce"/>
                <a:cs typeface="Open Sauce"/>
                <a:sym typeface="Open Sauce"/>
              </a:rPr>
              <a:t>Expected Outcome: This digital framework will yield 100% counting accuracy, remove subjective b</a:t>
            </a:r>
            <a:r>
              <a:rPr lang="en-US" sz="2500">
                <a:solidFill>
                  <a:srgbClr val="000000"/>
                </a:solidFill>
                <a:latin typeface="Open Sauce"/>
                <a:ea typeface="Open Sauce"/>
                <a:cs typeface="Open Sauce"/>
                <a:sym typeface="Open Sauce"/>
              </a:rPr>
              <a:t>ias, and operate continuously without fatigue.</a:t>
            </a:r>
          </a:p>
          <a:p>
            <a:pPr algn="ctr">
              <a:lnSpc>
                <a:spcPts val="3396"/>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a:t>
            </a:r>
          </a:p>
        </p:txBody>
      </p:sp>
      <p:sp>
        <p:nvSpPr>
          <p:cNvPr name="TextBox 3" id="3"/>
          <p:cNvSpPr txBox="true"/>
          <p:nvPr/>
        </p:nvSpPr>
        <p:spPr>
          <a:xfrm rot="0">
            <a:off x="1028700" y="2505729"/>
            <a:ext cx="16183298" cy="6056630"/>
          </a:xfrm>
          <a:prstGeom prst="rect">
            <a:avLst/>
          </a:prstGeom>
        </p:spPr>
        <p:txBody>
          <a:bodyPr anchor="t" rtlCol="false" tIns="0" lIns="0" bIns="0" rIns="0">
            <a:spAutoFit/>
          </a:bodyPr>
          <a:lstStyle/>
          <a:p>
            <a:pPr algn="l"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ROI Isolation:</a:t>
            </a:r>
            <a:r>
              <a:rPr lang="en-US" sz="2499">
                <a:solidFill>
                  <a:srgbClr val="331B0D"/>
                </a:solidFill>
                <a:latin typeface="Open Sauce"/>
                <a:ea typeface="Open Sauce"/>
                <a:cs typeface="Open Sauce"/>
                <a:sym typeface="Open Sauce"/>
              </a:rPr>
              <a:t> Cropped the frame horiz</a:t>
            </a:r>
            <a:r>
              <a:rPr lang="en-US" sz="2499">
                <a:solidFill>
                  <a:srgbClr val="331B0D"/>
                </a:solidFill>
                <a:latin typeface="Open Sauce"/>
                <a:ea typeface="Open Sauce"/>
                <a:cs typeface="Open Sauce"/>
                <a:sym typeface="Open Sauce"/>
              </a:rPr>
              <a:t>ontally to isolate the fluid column, discarding dead space to optimize processing speed (FPS).</a:t>
            </a:r>
          </a:p>
          <a:p>
            <a:pPr algn="just">
              <a:lnSpc>
                <a:spcPts val="3499"/>
              </a:lnSpc>
              <a:spcBef>
                <a:spcPct val="0"/>
              </a:spcBef>
            </a:pPr>
          </a:p>
          <a:p>
            <a:pPr algn="just"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Contrast Enhancement (CLAHE):</a:t>
            </a:r>
            <a:r>
              <a:rPr lang="en-US" sz="2499">
                <a:solidFill>
                  <a:srgbClr val="331B0D"/>
                </a:solidFill>
                <a:latin typeface="Open Sauce"/>
                <a:ea typeface="Open Sauce"/>
                <a:cs typeface="Open Sauce"/>
                <a:sym typeface="Open Sauce"/>
              </a:rPr>
              <a:t> Applied Contrast Limited Adaptive Histogram Equalization. Because the fluid is bright, CLAHE artificially darkens the faint edges of the droplets to make them machine-readable.</a:t>
            </a:r>
          </a:p>
          <a:p>
            <a:pPr algn="just">
              <a:lnSpc>
                <a:spcPts val="3499"/>
              </a:lnSpc>
              <a:spcBef>
                <a:spcPct val="0"/>
              </a:spcBef>
            </a:pPr>
          </a:p>
          <a:p>
            <a:pPr algn="just"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Gaussian Blurring:</a:t>
            </a:r>
            <a:r>
              <a:rPr lang="en-US" sz="2499">
                <a:solidFill>
                  <a:srgbClr val="331B0D"/>
                </a:solidFill>
                <a:latin typeface="Open Sauce"/>
                <a:ea typeface="Open Sauce"/>
                <a:cs typeface="Open Sauce"/>
                <a:sym typeface="Open Sauce"/>
              </a:rPr>
              <a:t> Implemented a 7 X 7 blur matrix to merge the top and bottom edges of the "hollow" looking bubbles into solid, detectable masses.</a:t>
            </a:r>
          </a:p>
          <a:p>
            <a:pPr algn="just">
              <a:lnSpc>
                <a:spcPts val="3499"/>
              </a:lnSpc>
              <a:spcBef>
                <a:spcPct val="0"/>
              </a:spcBef>
            </a:pPr>
          </a:p>
          <a:p>
            <a:pPr algn="just"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MOG2 Background Subtraction:</a:t>
            </a:r>
            <a:r>
              <a:rPr lang="en-US" sz="2499">
                <a:solidFill>
                  <a:srgbClr val="331B0D"/>
                </a:solidFill>
                <a:latin typeface="Open Sauce"/>
                <a:ea typeface="Open Sauce"/>
                <a:cs typeface="Open Sauce"/>
                <a:sym typeface="Open Sauce"/>
              </a:rPr>
              <a:t> Extracted moving blobs by isolating pixel variations over a 500-frame history while ignoring static background lighting.</a:t>
            </a:r>
          </a:p>
          <a:p>
            <a:pPr algn="just">
              <a:lnSpc>
                <a:spcPts val="3499"/>
              </a:lnSpc>
              <a:spcBef>
                <a:spcPct val="0"/>
              </a:spcBef>
            </a:pPr>
          </a:p>
          <a:p>
            <a:pPr algn="ctr">
              <a:lnSpc>
                <a:spcPts val="2940"/>
              </a:lnSpc>
              <a:spcBef>
                <a:spcPct val="0"/>
              </a:spcBef>
            </a:pPr>
          </a:p>
        </p:txBody>
      </p:sp>
      <p:sp>
        <p:nvSpPr>
          <p:cNvPr name="TextBox 4" id="4"/>
          <p:cNvSpPr txBox="true"/>
          <p:nvPr/>
        </p:nvSpPr>
        <p:spPr>
          <a:xfrm rot="0">
            <a:off x="6525637" y="209874"/>
            <a:ext cx="5236726" cy="1035673"/>
          </a:xfrm>
          <a:prstGeom prst="rect">
            <a:avLst/>
          </a:prstGeom>
        </p:spPr>
        <p:txBody>
          <a:bodyPr anchor="t" rtlCol="false" tIns="0" lIns="0" bIns="0" rIns="0">
            <a:spAutoFit/>
          </a:bodyPr>
          <a:lstStyle/>
          <a:p>
            <a:pPr algn="ctr">
              <a:lnSpc>
                <a:spcPts val="8540"/>
              </a:lnSpc>
            </a:pPr>
            <a:r>
              <a:rPr lang="en-US" sz="6100" b="true">
                <a:solidFill>
                  <a:srgbClr val="331B0D"/>
                </a:solidFill>
                <a:latin typeface="Canva Sans Bold"/>
                <a:ea typeface="Canva Sans Bold"/>
                <a:cs typeface="Canva Sans Bold"/>
                <a:sym typeface="Canva Sans Bold"/>
              </a:rPr>
              <a:t>Met</a:t>
            </a:r>
            <a:r>
              <a:rPr lang="en-US" b="true" sz="6100">
                <a:solidFill>
                  <a:srgbClr val="331B0D"/>
                </a:solidFill>
                <a:latin typeface="Canva Sans Bold"/>
                <a:ea typeface="Canva Sans Bold"/>
                <a:cs typeface="Canva Sans Bold"/>
                <a:sym typeface="Canva Sans Bold"/>
              </a:rPr>
              <a:t>hodology </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3" id="3"/>
          <p:cNvSpPr txBox="true"/>
          <p:nvPr/>
        </p:nvSpPr>
        <p:spPr>
          <a:xfrm rot="0">
            <a:off x="1069048" y="3058629"/>
            <a:ext cx="16190252" cy="5680075"/>
          </a:xfrm>
          <a:prstGeom prst="rect">
            <a:avLst/>
          </a:prstGeom>
        </p:spPr>
        <p:txBody>
          <a:bodyPr anchor="t" rtlCol="false" tIns="0" lIns="0" bIns="0" rIns="0">
            <a:spAutoFit/>
          </a:bodyPr>
          <a:lstStyle/>
          <a:p>
            <a:pPr algn="l"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Bounding Box Extraction:</a:t>
            </a:r>
            <a:r>
              <a:rPr lang="en-US" sz="2499">
                <a:solidFill>
                  <a:srgbClr val="331B0D"/>
                </a:solidFill>
                <a:latin typeface="Open Sauce"/>
                <a:ea typeface="Open Sauce"/>
                <a:cs typeface="Open Sauce"/>
                <a:sym typeface="Open Sauce"/>
              </a:rPr>
              <a:t> Applied cv2.boundingRect() to draw coordinates (x, y, w, h) around moving contours.</a:t>
            </a:r>
          </a:p>
          <a:p>
            <a:pPr algn="l">
              <a:lnSpc>
                <a:spcPts val="3499"/>
              </a:lnSpc>
              <a:spcBef>
                <a:spcPct val="0"/>
              </a:spcBef>
            </a:pPr>
          </a:p>
          <a:p>
            <a:pPr algn="l"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Aspect Ratio Calculation:</a:t>
            </a:r>
            <a:r>
              <a:rPr lang="en-US" sz="2499">
                <a:solidFill>
                  <a:srgbClr val="331B0D"/>
                </a:solidFill>
                <a:latin typeface="Open Sauce"/>
                <a:ea typeface="Open Sauce"/>
                <a:cs typeface="Open Sauce"/>
                <a:sym typeface="Open Sauce"/>
              </a:rPr>
              <a:t> To prevent the code from counting tall, thin vertical glare stripes as drops, we calculate the aspect ratio:</a:t>
            </a:r>
          </a:p>
          <a:p>
            <a:pPr algn="ctr">
              <a:lnSpc>
                <a:spcPts val="3499"/>
              </a:lnSpc>
              <a:spcBef>
                <a:spcPct val="0"/>
              </a:spcBef>
            </a:pPr>
            <a:r>
              <a:rPr lang="en-US" b="true" sz="2499">
                <a:solidFill>
                  <a:srgbClr val="331B0D"/>
                </a:solidFill>
                <a:latin typeface="Open Sauce Bold"/>
                <a:ea typeface="Open Sauce Bold"/>
                <a:cs typeface="Open Sauce Bold"/>
                <a:sym typeface="Open Sauce Bold"/>
              </a:rPr>
              <a:t>AR = w/max(1, h)</a:t>
            </a:r>
          </a:p>
          <a:p>
            <a:pPr algn="l" marL="539748" indent="-269874" lvl="1">
              <a:lnSpc>
                <a:spcPts val="3499"/>
              </a:lnSpc>
              <a:spcBef>
                <a:spcPct val="0"/>
              </a:spcBef>
              <a:buFont typeface="Arial"/>
              <a:buChar char="•"/>
            </a:pPr>
            <a:r>
              <a:rPr lang="en-US" sz="2499">
                <a:solidFill>
                  <a:srgbClr val="331B0D"/>
                </a:solidFill>
                <a:latin typeface="Open Sauce"/>
                <a:ea typeface="Open Sauce"/>
                <a:cs typeface="Open Sauce"/>
                <a:sym typeface="Open Sauce"/>
              </a:rPr>
              <a:t>Only blobs with an AR between 0.60 and 1.50 are processed, ensuring we only count roughly spherical drops.</a:t>
            </a:r>
          </a:p>
          <a:p>
            <a:pPr algn="l">
              <a:lnSpc>
                <a:spcPts val="3499"/>
              </a:lnSpc>
              <a:spcBef>
                <a:spcPct val="0"/>
              </a:spcBef>
            </a:pPr>
          </a:p>
          <a:p>
            <a:pPr algn="l"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Area Limits:</a:t>
            </a:r>
            <a:r>
              <a:rPr lang="en-US" sz="2499">
                <a:solidFill>
                  <a:srgbClr val="331B0D"/>
                </a:solidFill>
                <a:latin typeface="Open Sauce"/>
                <a:ea typeface="Open Sauce"/>
                <a:cs typeface="Open Sauce"/>
                <a:sym typeface="Open Sauce"/>
              </a:rPr>
              <a:t> Filtered out tiny artifacts and massive light flashes by restricting valid contour areas to 15 &lt; A &lt; 1000 pixels.</a:t>
            </a:r>
          </a:p>
          <a:p>
            <a:pPr algn="l">
              <a:lnSpc>
                <a:spcPts val="3499"/>
              </a:lnSpc>
              <a:spcBef>
                <a:spcPct val="0"/>
              </a:spcBef>
            </a:pPr>
          </a:p>
          <a:p>
            <a:pPr algn="l">
              <a:lnSpc>
                <a:spcPts val="3499"/>
              </a:lnSpc>
              <a:spcBef>
                <a:spcPct val="0"/>
              </a:spcBef>
            </a:pPr>
          </a:p>
        </p:txBody>
      </p:sp>
      <p:sp>
        <p:nvSpPr>
          <p:cNvPr name="TextBox 4" id="4"/>
          <p:cNvSpPr txBox="true"/>
          <p:nvPr/>
        </p:nvSpPr>
        <p:spPr>
          <a:xfrm rot="0">
            <a:off x="1092577" y="457206"/>
            <a:ext cx="16102846" cy="1028688"/>
          </a:xfrm>
          <a:prstGeom prst="rect">
            <a:avLst/>
          </a:prstGeom>
        </p:spPr>
        <p:txBody>
          <a:bodyPr anchor="t" rtlCol="false" tIns="0" lIns="0" bIns="0" rIns="0">
            <a:spAutoFit/>
          </a:bodyPr>
          <a:lstStyle/>
          <a:p>
            <a:pPr algn="ctr">
              <a:lnSpc>
                <a:spcPts val="8400"/>
              </a:lnSpc>
            </a:pPr>
            <a:r>
              <a:rPr lang="en-US" sz="6000" b="true">
                <a:solidFill>
                  <a:srgbClr val="331B0D"/>
                </a:solidFill>
                <a:latin typeface="Canva Sans Bold"/>
                <a:ea typeface="Canva Sans Bold"/>
                <a:cs typeface="Canva Sans Bold"/>
                <a:sym typeface="Canva Sans Bold"/>
              </a:rPr>
              <a:t>Relevant</a:t>
            </a:r>
            <a:r>
              <a:rPr lang="en-US" b="true" sz="6000">
                <a:solidFill>
                  <a:srgbClr val="331B0D"/>
                </a:solidFill>
                <a:latin typeface="Canva Sans Bold"/>
                <a:ea typeface="Canva Sans Bold"/>
                <a:cs typeface="Canva Sans Bold"/>
                <a:sym typeface="Canva Sans Bold"/>
              </a:rPr>
              <a:t> Calculations (Shape &amp; Filter Math)</a:t>
            </a:r>
          </a:p>
        </p:txBody>
      </p:sp>
      <p:sp>
        <p:nvSpPr>
          <p:cNvPr name="TextBox 5" id="5"/>
          <p:cNvSpPr txBox="true"/>
          <p:nvPr/>
        </p:nvSpPr>
        <p:spPr>
          <a:xfrm rot="0">
            <a:off x="2525372" y="1557501"/>
            <a:ext cx="13237256" cy="688974"/>
          </a:xfrm>
          <a:prstGeom prst="rect">
            <a:avLst/>
          </a:prstGeom>
        </p:spPr>
        <p:txBody>
          <a:bodyPr anchor="t" rtlCol="false" tIns="0" lIns="0" bIns="0" rIns="0">
            <a:spAutoFit/>
          </a:bodyPr>
          <a:lstStyle/>
          <a:p>
            <a:pPr algn="ctr">
              <a:lnSpc>
                <a:spcPts val="5600"/>
              </a:lnSpc>
            </a:pPr>
            <a:r>
              <a:rPr lang="en-US" sz="4000" b="true">
                <a:solidFill>
                  <a:srgbClr val="331B0D"/>
                </a:solidFill>
                <a:latin typeface="Canva Sans Bold"/>
                <a:ea typeface="Canva Sans Bold"/>
                <a:cs typeface="Canva Sans Bold"/>
                <a:sym typeface="Canva Sans Bold"/>
              </a:rPr>
              <a:t>Filtering</a:t>
            </a:r>
            <a:r>
              <a:rPr lang="en-US" b="true" sz="4000">
                <a:solidFill>
                  <a:srgbClr val="331B0D"/>
                </a:solidFill>
                <a:latin typeface="Canva Sans Bold"/>
                <a:ea typeface="Canva Sans Bold"/>
                <a:cs typeface="Canva Sans Bold"/>
                <a:sym typeface="Canva Sans Bold"/>
              </a:rPr>
              <a:t> Noise vs. Actual Droplets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4</a:t>
            </a:r>
          </a:p>
        </p:txBody>
      </p:sp>
      <p:sp>
        <p:nvSpPr>
          <p:cNvPr name="TextBox 3" id="3"/>
          <p:cNvSpPr txBox="true"/>
          <p:nvPr/>
        </p:nvSpPr>
        <p:spPr>
          <a:xfrm rot="0">
            <a:off x="1028700" y="2422714"/>
            <a:ext cx="16188519" cy="5680075"/>
          </a:xfrm>
          <a:prstGeom prst="rect">
            <a:avLst/>
          </a:prstGeom>
        </p:spPr>
        <p:txBody>
          <a:bodyPr anchor="t" rtlCol="false" tIns="0" lIns="0" bIns="0" rIns="0">
            <a:spAutoFit/>
          </a:bodyPr>
          <a:lstStyle/>
          <a:p>
            <a:pPr algn="l"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Centroid Mapping:</a:t>
            </a:r>
            <a:r>
              <a:rPr lang="en-US" sz="2499">
                <a:solidFill>
                  <a:srgbClr val="331B0D"/>
                </a:solidFill>
                <a:latin typeface="Open Sauce"/>
                <a:ea typeface="Open Sauce"/>
                <a:cs typeface="Open Sauce"/>
                <a:sym typeface="Open Sauce"/>
              </a:rPr>
              <a:t> The geometric center of every valid droplet is calculated as:</a:t>
            </a:r>
          </a:p>
          <a:p>
            <a:pPr algn="ctr">
              <a:lnSpc>
                <a:spcPts val="3499"/>
              </a:lnSpc>
              <a:spcBef>
                <a:spcPct val="0"/>
              </a:spcBef>
            </a:pPr>
            <a:r>
              <a:rPr lang="en-US" b="true" sz="2499">
                <a:solidFill>
                  <a:srgbClr val="331B0D"/>
                </a:solidFill>
                <a:latin typeface="Open Sauce Bold"/>
                <a:ea typeface="Open Sauce Bold"/>
                <a:cs typeface="Open Sauce Bold"/>
                <a:sym typeface="Open Sauce Bold"/>
              </a:rPr>
              <a:t>C = (x + w/2, y + h/2)</a:t>
            </a:r>
          </a:p>
          <a:p>
            <a:pPr algn="l">
              <a:lnSpc>
                <a:spcPts val="3499"/>
              </a:lnSpc>
              <a:spcBef>
                <a:spcPct val="0"/>
              </a:spcBef>
            </a:pPr>
          </a:p>
          <a:p>
            <a:pPr algn="l"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Frame-to-Frame Distance:</a:t>
            </a:r>
            <a:r>
              <a:rPr lang="en-US" sz="2499">
                <a:solidFill>
                  <a:srgbClr val="331B0D"/>
                </a:solidFill>
                <a:latin typeface="Open Sauce"/>
                <a:ea typeface="Open Sauce"/>
                <a:cs typeface="Open Sauce"/>
                <a:sym typeface="Open Sauce"/>
              </a:rPr>
              <a:t> We use the SciPy library to compute the Euclidean distance matrix between existing tracked centroids (x1, y1) and new centroids (x2, y2) in the current frame:</a:t>
            </a:r>
          </a:p>
          <a:p>
            <a:pPr algn="ctr">
              <a:lnSpc>
                <a:spcPts val="3499"/>
              </a:lnSpc>
              <a:spcBef>
                <a:spcPct val="0"/>
              </a:spcBef>
            </a:pPr>
            <a:r>
              <a:rPr lang="en-US" b="true" sz="2499">
                <a:solidFill>
                  <a:srgbClr val="331B0D"/>
                </a:solidFill>
                <a:latin typeface="Open Sauce Bold"/>
                <a:ea typeface="Open Sauce Bold"/>
                <a:cs typeface="Open Sauce Bold"/>
                <a:sym typeface="Open Sauce Bold"/>
              </a:rPr>
              <a:t>D = sqrt{(x2 - x1)^2 + (y2 - y1)^2}</a:t>
            </a:r>
          </a:p>
          <a:p>
            <a:pPr algn="l">
              <a:lnSpc>
                <a:spcPts val="3499"/>
              </a:lnSpc>
              <a:spcBef>
                <a:spcPct val="0"/>
              </a:spcBef>
            </a:pPr>
            <a:r>
              <a:rPr lang="en-US" b="true" sz="2499">
                <a:solidFill>
                  <a:srgbClr val="331B0D"/>
                </a:solidFill>
                <a:latin typeface="Open Sauce Bold"/>
                <a:ea typeface="Open Sauce Bold"/>
                <a:cs typeface="Open Sauce Bold"/>
                <a:sym typeface="Open Sauce Bold"/>
              </a:rPr>
              <a:t> </a:t>
            </a:r>
          </a:p>
          <a:p>
            <a:pPr algn="l" marL="539748" indent="-269874"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Tracker Logic:</a:t>
            </a:r>
            <a:r>
              <a:rPr lang="en-US" sz="2499">
                <a:solidFill>
                  <a:srgbClr val="331B0D"/>
                </a:solidFill>
                <a:latin typeface="Open Sauce"/>
                <a:ea typeface="Open Sauce"/>
                <a:cs typeface="Open Sauce"/>
                <a:sym typeface="Open Sauce"/>
              </a:rPr>
              <a:t> If D is less than our threshold of 150 pixels, the algorithm successfully links the new position to the existing droplet ID, preventing duplicate counts.</a:t>
            </a:r>
          </a:p>
          <a:p>
            <a:pPr algn="l">
              <a:lnSpc>
                <a:spcPts val="3499"/>
              </a:lnSpc>
              <a:spcBef>
                <a:spcPct val="0"/>
              </a:spcBef>
            </a:pPr>
          </a:p>
          <a:p>
            <a:pPr algn="l" marL="539748" indent="-269874" lvl="1">
              <a:lnSpc>
                <a:spcPts val="3499"/>
              </a:lnSpc>
              <a:spcBef>
                <a:spcPct val="0"/>
              </a:spcBef>
              <a:buFont typeface="Arial"/>
              <a:buChar char="•"/>
            </a:pPr>
            <a:r>
              <a:rPr lang="en-US" sz="2499">
                <a:solidFill>
                  <a:srgbClr val="331B0D"/>
                </a:solidFill>
                <a:latin typeface="Open Sauce"/>
                <a:ea typeface="Open Sauce"/>
                <a:cs typeface="Open Sauce"/>
                <a:sym typeface="Open Sauce"/>
              </a:rPr>
              <a:t>The brain of the system is the Centroid Tracker. It calculates the exact center of every drop and maps their Euclidean distance between frames. This mathematical proof allows the system to assign a unique ID to every single drop and track its exact path down the column without double-counting.</a:t>
            </a:r>
          </a:p>
        </p:txBody>
      </p:sp>
      <p:sp>
        <p:nvSpPr>
          <p:cNvPr name="TextBox 4" id="4"/>
          <p:cNvSpPr txBox="true"/>
          <p:nvPr/>
        </p:nvSpPr>
        <p:spPr>
          <a:xfrm rot="0">
            <a:off x="5089922" y="132105"/>
            <a:ext cx="8108156" cy="1028700"/>
          </a:xfrm>
          <a:prstGeom prst="rect">
            <a:avLst/>
          </a:prstGeom>
        </p:spPr>
        <p:txBody>
          <a:bodyPr anchor="t" rtlCol="false" tIns="0" lIns="0" bIns="0" rIns="0">
            <a:spAutoFit/>
          </a:bodyPr>
          <a:lstStyle/>
          <a:p>
            <a:pPr algn="ctr">
              <a:lnSpc>
                <a:spcPts val="8400"/>
              </a:lnSpc>
            </a:pPr>
            <a:r>
              <a:rPr lang="en-US" sz="6000" b="true">
                <a:solidFill>
                  <a:srgbClr val="331B0D"/>
                </a:solidFill>
                <a:latin typeface="Canva Sans Bold"/>
                <a:ea typeface="Canva Sans Bold"/>
                <a:cs typeface="Canva Sans Bold"/>
                <a:sym typeface="Canva Sans Bold"/>
              </a:rPr>
              <a:t>Relev</a:t>
            </a:r>
            <a:r>
              <a:rPr lang="en-US" b="true" sz="6000">
                <a:solidFill>
                  <a:srgbClr val="331B0D"/>
                </a:solidFill>
                <a:latin typeface="Canva Sans Bold"/>
                <a:ea typeface="Canva Sans Bold"/>
                <a:cs typeface="Canva Sans Bold"/>
                <a:sym typeface="Canva Sans Bold"/>
              </a:rPr>
              <a:t>ant Calculations</a:t>
            </a:r>
          </a:p>
        </p:txBody>
      </p:sp>
      <p:sp>
        <p:nvSpPr>
          <p:cNvPr name="TextBox 5" id="5"/>
          <p:cNvSpPr txBox="true"/>
          <p:nvPr/>
        </p:nvSpPr>
        <p:spPr>
          <a:xfrm rot="0">
            <a:off x="4166119" y="1220310"/>
            <a:ext cx="9955762" cy="688974"/>
          </a:xfrm>
          <a:prstGeom prst="rect">
            <a:avLst/>
          </a:prstGeom>
        </p:spPr>
        <p:txBody>
          <a:bodyPr anchor="t" rtlCol="false" tIns="0" lIns="0" bIns="0" rIns="0">
            <a:spAutoFit/>
          </a:bodyPr>
          <a:lstStyle/>
          <a:p>
            <a:pPr algn="ctr">
              <a:lnSpc>
                <a:spcPts val="5600"/>
              </a:lnSpc>
            </a:pPr>
            <a:r>
              <a:rPr lang="en-US" sz="4000" b="true">
                <a:solidFill>
                  <a:srgbClr val="331B0D"/>
                </a:solidFill>
                <a:latin typeface="Canva Sans Bold"/>
                <a:ea typeface="Canva Sans Bold"/>
                <a:cs typeface="Canva Sans Bold"/>
                <a:sym typeface="Canva Sans Bold"/>
              </a:rPr>
              <a:t>The Centroi</a:t>
            </a:r>
            <a:r>
              <a:rPr lang="en-US" b="true" sz="4000">
                <a:solidFill>
                  <a:srgbClr val="331B0D"/>
                </a:solidFill>
                <a:latin typeface="Canva Sans Bold"/>
                <a:ea typeface="Canva Sans Bold"/>
                <a:cs typeface="Canva Sans Bold"/>
                <a:sym typeface="Canva Sans Bold"/>
              </a:rPr>
              <a:t>d Euclidean Distance Matrix</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FFFFFF"/>
                </a:solidFill>
                <a:latin typeface="Open Sauce"/>
                <a:ea typeface="Open Sauce"/>
                <a:cs typeface="Open Sauce"/>
                <a:sym typeface="Open Sauce"/>
              </a:rPr>
              <a:t>5</a:t>
            </a:r>
          </a:p>
        </p:txBody>
      </p:sp>
      <p:sp>
        <p:nvSpPr>
          <p:cNvPr name="TextBox 3" id="3"/>
          <p:cNvSpPr txBox="true"/>
          <p:nvPr/>
        </p:nvSpPr>
        <p:spPr>
          <a:xfrm rot="0">
            <a:off x="1046548" y="2511314"/>
            <a:ext cx="16194904" cy="7432675"/>
          </a:xfrm>
          <a:prstGeom prst="rect">
            <a:avLst/>
          </a:prstGeom>
        </p:spPr>
        <p:txBody>
          <a:bodyPr anchor="t" rtlCol="false" tIns="0" lIns="0" bIns="0" rIns="0">
            <a:spAutoFit/>
          </a:bodyPr>
          <a:lstStyle/>
          <a:p>
            <a:pPr algn="l" marL="539748" indent="-269874"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The Initial Approach:</a:t>
            </a:r>
            <a:r>
              <a:rPr lang="en-US" sz="2499">
                <a:solidFill>
                  <a:srgbClr val="000000"/>
                </a:solidFill>
                <a:latin typeface="Open Sauce"/>
                <a:ea typeface="Open Sauce"/>
                <a:cs typeface="Open Sauce"/>
                <a:sym typeface="Open Sauce"/>
              </a:rPr>
              <a:t> We attempted to use physical optical sensors, including infrared break-beams and point-laser diodes, to cross the 10+ cm glass column.</a:t>
            </a:r>
          </a:p>
          <a:p>
            <a:pPr algn="l">
              <a:lnSpc>
                <a:spcPts val="3499"/>
              </a:lnSpc>
              <a:spcBef>
                <a:spcPct val="0"/>
              </a:spcBef>
            </a:pPr>
          </a:p>
          <a:p>
            <a:pPr algn="l" marL="539748" indent="-269874"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The Refraction Problem:</a:t>
            </a:r>
            <a:r>
              <a:rPr lang="en-US" sz="2499">
                <a:solidFill>
                  <a:srgbClr val="000000"/>
                </a:solidFill>
                <a:latin typeface="Open Sauce"/>
                <a:ea typeface="Open Sauce"/>
                <a:cs typeface="Open Sauce"/>
                <a:sym typeface="Open Sauce"/>
              </a:rPr>
              <a:t> Because the continuous phase acts as a cylindrical lens, and the dispersed droplets act as moving spherical lenses, the laser light refracted unpredictably.</a:t>
            </a:r>
          </a:p>
          <a:p>
            <a:pPr algn="l">
              <a:lnSpc>
                <a:spcPts val="3499"/>
              </a:lnSpc>
              <a:spcBef>
                <a:spcPct val="0"/>
              </a:spcBef>
            </a:pPr>
          </a:p>
          <a:p>
            <a:pPr algn="l" marL="539748" indent="-269874"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The Wobble Effect:</a:t>
            </a:r>
            <a:r>
              <a:rPr lang="en-US" sz="2499">
                <a:solidFill>
                  <a:srgbClr val="000000"/>
                </a:solidFill>
                <a:latin typeface="Open Sauce"/>
                <a:ea typeface="Open Sauce"/>
                <a:cs typeface="Open Sauce"/>
                <a:sym typeface="Open Sauce"/>
              </a:rPr>
              <a:t> Fluid dynamics dictated that the 2–4 mm drops fell in non-linear, wobbling paths, frequently missing the narrow physical sensor beams.</a:t>
            </a:r>
          </a:p>
          <a:p>
            <a:pPr algn="l">
              <a:lnSpc>
                <a:spcPts val="3499"/>
              </a:lnSpc>
              <a:spcBef>
                <a:spcPct val="0"/>
              </a:spcBef>
            </a:pPr>
          </a:p>
          <a:p>
            <a:pPr algn="l" marL="539748" indent="-269874"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The Solution:</a:t>
            </a:r>
            <a:r>
              <a:rPr lang="en-US" sz="2499">
                <a:solidFill>
                  <a:srgbClr val="000000"/>
                </a:solidFill>
                <a:latin typeface="Open Sauce"/>
                <a:ea typeface="Open Sauce"/>
                <a:cs typeface="Open Sauce"/>
                <a:sym typeface="Open Sauce"/>
              </a:rPr>
              <a:t> We abandoned the physical optical grid and engineered a dynamic, camera-based Computer Vision (CV) framework to monitor the entire column simultaneously.</a:t>
            </a:r>
          </a:p>
          <a:p>
            <a:pPr algn="l">
              <a:lnSpc>
                <a:spcPts val="3499"/>
              </a:lnSpc>
              <a:spcBef>
                <a:spcPct val="0"/>
              </a:spcBef>
            </a:pPr>
          </a:p>
          <a:p>
            <a:pPr algn="l" marL="539748" indent="-269874" lvl="1">
              <a:lnSpc>
                <a:spcPts val="3499"/>
              </a:lnSpc>
              <a:spcBef>
                <a:spcPct val="0"/>
              </a:spcBef>
              <a:buFont typeface="Arial"/>
              <a:buChar char="•"/>
            </a:pPr>
            <a:r>
              <a:rPr lang="en-US" sz="2499">
                <a:solidFill>
                  <a:srgbClr val="000000"/>
                </a:solidFill>
                <a:latin typeface="Open Sauce"/>
                <a:ea typeface="Open Sauce"/>
                <a:cs typeface="Open Sauce"/>
                <a:sym typeface="Open Sauce"/>
              </a:rPr>
              <a:t>Also we tried using dye to the dispersed phase is a common quick fix for improving contrast in fluid dynamics but it had its own drawbacks dyes can act as weak buffers or competing indicators. They might shift the actual pH at which the phenolphthalein triggers or worse react with the acetic acid/base in your titration. So by this we could end up with a "False Endpoint" or a sluggish color transition that doesn't represent the true chemical equivalence point.</a:t>
            </a:r>
          </a:p>
        </p:txBody>
      </p:sp>
      <p:sp>
        <p:nvSpPr>
          <p:cNvPr name="TextBox 4" id="4"/>
          <p:cNvSpPr txBox="true"/>
          <p:nvPr/>
        </p:nvSpPr>
        <p:spPr>
          <a:xfrm rot="0">
            <a:off x="3588061" y="549179"/>
            <a:ext cx="11111878" cy="1028700"/>
          </a:xfrm>
          <a:prstGeom prst="rect">
            <a:avLst/>
          </a:prstGeom>
        </p:spPr>
        <p:txBody>
          <a:bodyPr anchor="t" rtlCol="false" tIns="0" lIns="0" bIns="0" rIns="0">
            <a:spAutoFit/>
          </a:bodyPr>
          <a:lstStyle/>
          <a:p>
            <a:pPr algn="ctr">
              <a:lnSpc>
                <a:spcPts val="8400"/>
              </a:lnSpc>
            </a:pPr>
            <a:r>
              <a:rPr lang="en-US" sz="6000" b="true">
                <a:solidFill>
                  <a:srgbClr val="000000"/>
                </a:solidFill>
                <a:latin typeface="Canva Sans Bold"/>
                <a:ea typeface="Canva Sans Bold"/>
                <a:cs typeface="Canva Sans Bold"/>
                <a:sym typeface="Canva Sans Bold"/>
              </a:rPr>
              <a:t>Difficulties Face</a:t>
            </a:r>
            <a:r>
              <a:rPr lang="en-US" b="true" sz="6000">
                <a:solidFill>
                  <a:srgbClr val="000000"/>
                </a:solidFill>
                <a:latin typeface="Canva Sans Bold"/>
                <a:ea typeface="Canva Sans Bold"/>
                <a:cs typeface="Canva Sans Bold"/>
                <a:sym typeface="Canva Sans Bold"/>
              </a:rPr>
              <a:t>d &amp; The Pivot</a:t>
            </a:r>
          </a:p>
        </p:txBody>
      </p:sp>
      <p:sp>
        <p:nvSpPr>
          <p:cNvPr name="TextBox 5" id="5"/>
          <p:cNvSpPr txBox="true"/>
          <p:nvPr/>
        </p:nvSpPr>
        <p:spPr>
          <a:xfrm rot="0">
            <a:off x="4308156" y="1642174"/>
            <a:ext cx="9671688"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Canva Sans Bold"/>
                <a:ea typeface="Canva Sans Bold"/>
                <a:cs typeface="Canva Sans Bold"/>
                <a:sym typeface="Canva Sans Bold"/>
              </a:rPr>
              <a:t>Why</a:t>
            </a:r>
            <a:r>
              <a:rPr lang="en-US" b="true" sz="3999">
                <a:solidFill>
                  <a:srgbClr val="000000"/>
                </a:solidFill>
                <a:latin typeface="Canva Sans Bold"/>
                <a:ea typeface="Canva Sans Bold"/>
                <a:cs typeface="Canva Sans Bold"/>
                <a:sym typeface="Canva Sans Bold"/>
              </a:rPr>
              <a:t> Hardware Sensors Failed</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FFFFFF"/>
                </a:solidFill>
                <a:latin typeface="Open Sauce"/>
                <a:ea typeface="Open Sauce"/>
                <a:cs typeface="Open Sauce"/>
                <a:sym typeface="Open Sauce"/>
              </a:rPr>
              <a:t>5</a:t>
            </a:r>
          </a:p>
        </p:txBody>
      </p:sp>
      <p:sp>
        <p:nvSpPr>
          <p:cNvPr name="TextBox 3" id="3"/>
          <p:cNvSpPr txBox="true"/>
          <p:nvPr/>
        </p:nvSpPr>
        <p:spPr>
          <a:xfrm rot="0">
            <a:off x="1046548" y="2571826"/>
            <a:ext cx="16194904" cy="1736725"/>
          </a:xfrm>
          <a:prstGeom prst="rect">
            <a:avLst/>
          </a:prstGeom>
        </p:spPr>
        <p:txBody>
          <a:bodyPr anchor="t" rtlCol="false" tIns="0" lIns="0" bIns="0" rIns="0">
            <a:spAutoFit/>
          </a:bodyPr>
          <a:lstStyle/>
          <a:p>
            <a:pPr algn="l" marL="539748" indent="-269874" lvl="1">
              <a:lnSpc>
                <a:spcPts val="3499"/>
              </a:lnSpc>
              <a:spcBef>
                <a:spcPct val="0"/>
              </a:spcBef>
              <a:buFont typeface="Arial"/>
              <a:buChar char="•"/>
            </a:pPr>
            <a:r>
              <a:rPr lang="en-US" sz="2499">
                <a:solidFill>
                  <a:srgbClr val="000000"/>
                </a:solidFill>
                <a:latin typeface="Open Sauce"/>
                <a:ea typeface="Open Sauce"/>
                <a:cs typeface="Open Sauce"/>
                <a:sym typeface="Open Sauce"/>
              </a:rPr>
              <a:t>We</a:t>
            </a:r>
            <a:r>
              <a:rPr lang="en-US" sz="2499">
                <a:solidFill>
                  <a:srgbClr val="000000"/>
                </a:solidFill>
                <a:latin typeface="Open Sauce"/>
                <a:ea typeface="Open Sauce"/>
                <a:cs typeface="Open Sauce"/>
                <a:sym typeface="Open Sauce"/>
              </a:rPr>
              <a:t> faced severe challenges trying to make hardware lasers work. The curved glass column and the refractive index of the continuous phase scattered our laser beams, and the droplets wobbled out of the sensor path. To tackle this, we shifted our entire approach to software, building a computer vision model that monitors the whole column at once.</a:t>
            </a:r>
          </a:p>
        </p:txBody>
      </p:sp>
      <p:sp>
        <p:nvSpPr>
          <p:cNvPr name="TextBox 4" id="4"/>
          <p:cNvSpPr txBox="true"/>
          <p:nvPr/>
        </p:nvSpPr>
        <p:spPr>
          <a:xfrm rot="0">
            <a:off x="3588061" y="549179"/>
            <a:ext cx="11111878" cy="1028700"/>
          </a:xfrm>
          <a:prstGeom prst="rect">
            <a:avLst/>
          </a:prstGeom>
        </p:spPr>
        <p:txBody>
          <a:bodyPr anchor="t" rtlCol="false" tIns="0" lIns="0" bIns="0" rIns="0">
            <a:spAutoFit/>
          </a:bodyPr>
          <a:lstStyle/>
          <a:p>
            <a:pPr algn="ctr">
              <a:lnSpc>
                <a:spcPts val="8400"/>
              </a:lnSpc>
            </a:pPr>
            <a:r>
              <a:rPr lang="en-US" sz="6000" b="true">
                <a:solidFill>
                  <a:srgbClr val="000000"/>
                </a:solidFill>
                <a:latin typeface="Canva Sans Bold"/>
                <a:ea typeface="Canva Sans Bold"/>
                <a:cs typeface="Canva Sans Bold"/>
                <a:sym typeface="Canva Sans Bold"/>
              </a:rPr>
              <a:t>Difficulties Face</a:t>
            </a:r>
            <a:r>
              <a:rPr lang="en-US" b="true" sz="6000">
                <a:solidFill>
                  <a:srgbClr val="000000"/>
                </a:solidFill>
                <a:latin typeface="Canva Sans Bold"/>
                <a:ea typeface="Canva Sans Bold"/>
                <a:cs typeface="Canva Sans Bold"/>
                <a:sym typeface="Canva Sans Bold"/>
              </a:rPr>
              <a:t>d &amp; The Pivot</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65022" y="3718875"/>
            <a:ext cx="16194278" cy="3927475"/>
          </a:xfrm>
          <a:prstGeom prst="rect">
            <a:avLst/>
          </a:prstGeom>
        </p:spPr>
        <p:txBody>
          <a:bodyPr anchor="t" rtlCol="false" tIns="0" lIns="0" bIns="0" rIns="0">
            <a:spAutoFit/>
          </a:bodyPr>
          <a:lstStyle/>
          <a:p>
            <a:pPr algn="l" marL="539749" indent="-269875"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The Virtual Tripwire:</a:t>
            </a:r>
            <a:r>
              <a:rPr lang="en-US" sz="2499">
                <a:solidFill>
                  <a:srgbClr val="000000"/>
                </a:solidFill>
                <a:latin typeface="Open Sauce"/>
                <a:ea typeface="Open Sauce"/>
                <a:cs typeface="Open Sauce"/>
                <a:sym typeface="Open Sauce"/>
              </a:rPr>
              <a:t> Established a single Y-coordinate axis (e.g., Y=184).</a:t>
            </a:r>
          </a:p>
          <a:p>
            <a:pPr algn="l">
              <a:lnSpc>
                <a:spcPts val="3499"/>
              </a:lnSpc>
              <a:spcBef>
                <a:spcPct val="0"/>
              </a:spcBef>
            </a:pPr>
          </a:p>
          <a:p>
            <a:pPr algn="l" marL="539749" indent="-269875"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Detection Logic:</a:t>
            </a:r>
            <a:r>
              <a:rPr lang="en-US" sz="2499">
                <a:solidFill>
                  <a:srgbClr val="000000"/>
                </a:solidFill>
                <a:latin typeface="Open Sauce"/>
                <a:ea typeface="Open Sauce"/>
                <a:cs typeface="Open Sauce"/>
                <a:sym typeface="Open Sauce"/>
              </a:rPr>
              <a:t> A drop is only counted when its centroid history proves it moved downward across the line: Y_prev &lt; Y_tripwire &lt; Y_current.</a:t>
            </a:r>
          </a:p>
          <a:p>
            <a:pPr algn="l">
              <a:lnSpc>
                <a:spcPts val="3499"/>
              </a:lnSpc>
              <a:spcBef>
                <a:spcPct val="0"/>
              </a:spcBef>
            </a:pPr>
          </a:p>
          <a:p>
            <a:pPr algn="l" marL="539749" indent="-269875" lvl="1">
              <a:lnSpc>
                <a:spcPts val="3499"/>
              </a:lnSpc>
              <a:spcBef>
                <a:spcPct val="0"/>
              </a:spcBef>
              <a:buFont typeface="Arial"/>
              <a:buChar char="•"/>
            </a:pPr>
            <a:r>
              <a:rPr lang="en-US" b="true" sz="2499">
                <a:solidFill>
                  <a:srgbClr val="000000"/>
                </a:solidFill>
                <a:latin typeface="Open Sauce Bold"/>
                <a:ea typeface="Open Sauce Bold"/>
                <a:cs typeface="Open Sauce Bold"/>
                <a:sym typeface="Open Sauce Bold"/>
              </a:rPr>
              <a:t>Data Logging:</a:t>
            </a:r>
            <a:r>
              <a:rPr lang="en-US" sz="2499">
                <a:solidFill>
                  <a:srgbClr val="000000"/>
                </a:solidFill>
                <a:latin typeface="Open Sauce"/>
                <a:ea typeface="Open Sauce"/>
                <a:cs typeface="Open Sauce"/>
                <a:sym typeface="Open Sauce"/>
              </a:rPr>
              <a:t> Achieved highly accurate counting. The system automatically pushes the Bubble ID, Timestamp, Frame Number, and (X,Y) coordinates into a bubble_log.csv for post-experiment analysis.</a:t>
            </a:r>
          </a:p>
          <a:p>
            <a:pPr algn="l">
              <a:lnSpc>
                <a:spcPts val="3499"/>
              </a:lnSpc>
              <a:spcBef>
                <a:spcPct val="0"/>
              </a:spcBef>
            </a:pPr>
          </a:p>
          <a:p>
            <a:pPr algn="l">
              <a:lnSpc>
                <a:spcPts val="3499"/>
              </a:lnSpc>
              <a:spcBef>
                <a:spcPct val="0"/>
              </a:spcBef>
            </a:pPr>
          </a:p>
        </p:txBody>
      </p:sp>
      <p:sp>
        <p:nvSpPr>
          <p:cNvPr name="TextBox 3" id="3"/>
          <p:cNvSpPr txBox="true"/>
          <p:nvPr/>
        </p:nvSpPr>
        <p:spPr>
          <a:xfrm rot="0">
            <a:off x="1046861" y="914400"/>
            <a:ext cx="16194278" cy="1028700"/>
          </a:xfrm>
          <a:prstGeom prst="rect">
            <a:avLst/>
          </a:prstGeom>
        </p:spPr>
        <p:txBody>
          <a:bodyPr anchor="t" rtlCol="false" tIns="0" lIns="0" bIns="0" rIns="0">
            <a:spAutoFit/>
          </a:bodyPr>
          <a:lstStyle/>
          <a:p>
            <a:pPr algn="ctr">
              <a:lnSpc>
                <a:spcPts val="8400"/>
              </a:lnSpc>
            </a:pPr>
            <a:r>
              <a:rPr lang="en-US" sz="6000" b="true">
                <a:solidFill>
                  <a:srgbClr val="000000"/>
                </a:solidFill>
                <a:latin typeface="Canva Sans Bold"/>
                <a:ea typeface="Canva Sans Bold"/>
                <a:cs typeface="Canva Sans Bold"/>
                <a:sym typeface="Canva Sans Bold"/>
              </a:rPr>
              <a:t>Results</a:t>
            </a:r>
            <a:r>
              <a:rPr lang="en-US" b="true" sz="6000">
                <a:solidFill>
                  <a:srgbClr val="000000"/>
                </a:solidFill>
                <a:latin typeface="Canva Sans Bold"/>
                <a:ea typeface="Canva Sans Bold"/>
                <a:cs typeface="Canva Sans Bold"/>
                <a:sym typeface="Canva Sans Bold"/>
              </a:rPr>
              <a:t> &amp; Tripwire Execution</a:t>
            </a:r>
          </a:p>
        </p:txBody>
      </p:sp>
      <p:sp>
        <p:nvSpPr>
          <p:cNvPr name="TextBox 4" id="4"/>
          <p:cNvSpPr txBox="true"/>
          <p:nvPr/>
        </p:nvSpPr>
        <p:spPr>
          <a:xfrm rot="0">
            <a:off x="1046861" y="2094865"/>
            <a:ext cx="16194278"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Canva Sans Bold"/>
                <a:ea typeface="Canva Sans Bold"/>
                <a:cs typeface="Canva Sans Bold"/>
                <a:sym typeface="Canva Sans Bold"/>
              </a:rPr>
              <a:t>Perfect</a:t>
            </a:r>
            <a:r>
              <a:rPr lang="en-US" b="true" sz="3999">
                <a:solidFill>
                  <a:srgbClr val="000000"/>
                </a:solidFill>
                <a:latin typeface="Canva Sans Bold"/>
                <a:ea typeface="Canva Sans Bold"/>
                <a:cs typeface="Canva Sans Bold"/>
                <a:sym typeface="Canva Sans Bold"/>
              </a:rPr>
              <a:t> Counting Accuracy</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7</a:t>
            </a:r>
          </a:p>
        </p:txBody>
      </p:sp>
      <p:sp>
        <p:nvSpPr>
          <p:cNvPr name="TextBox 3" id="3"/>
          <p:cNvSpPr txBox="true"/>
          <p:nvPr/>
        </p:nvSpPr>
        <p:spPr>
          <a:xfrm rot="0">
            <a:off x="1046861" y="3001276"/>
            <a:ext cx="16194278" cy="4803775"/>
          </a:xfrm>
          <a:prstGeom prst="rect">
            <a:avLst/>
          </a:prstGeom>
        </p:spPr>
        <p:txBody>
          <a:bodyPr anchor="t" rtlCol="false" tIns="0" lIns="0" bIns="0" rIns="0">
            <a:spAutoFit/>
          </a:bodyPr>
          <a:lstStyle/>
          <a:p>
            <a:pPr algn="l" marL="539749" indent="-269875"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Cost-to-Performance:</a:t>
            </a:r>
            <a:r>
              <a:rPr lang="en-US" sz="2499">
                <a:solidFill>
                  <a:srgbClr val="331B0D"/>
                </a:solidFill>
                <a:latin typeface="Open Sauce"/>
                <a:ea typeface="Open Sauce"/>
                <a:cs typeface="Open Sauce"/>
                <a:sym typeface="Open Sauce"/>
              </a:rPr>
              <a:t> Successfully replicated the functionality of expensive analytical hardware (like Phase Doppler Analyzers) using an off-the-shelf camera and Python processing.</a:t>
            </a:r>
          </a:p>
          <a:p>
            <a:pPr algn="l">
              <a:lnSpc>
                <a:spcPts val="3499"/>
              </a:lnSpc>
              <a:spcBef>
                <a:spcPct val="0"/>
              </a:spcBef>
            </a:pPr>
          </a:p>
          <a:p>
            <a:pPr algn="l" marL="539749" indent="-269875" lvl="1">
              <a:lnSpc>
                <a:spcPts val="3499"/>
              </a:lnSpc>
              <a:spcBef>
                <a:spcPct val="0"/>
              </a:spcBef>
              <a:buFont typeface="Arial"/>
              <a:buChar char="•"/>
            </a:pPr>
            <a:r>
              <a:rPr lang="en-US" b="true" sz="2499">
                <a:solidFill>
                  <a:srgbClr val="331B0D"/>
                </a:solidFill>
                <a:latin typeface="Open Sauce Bold"/>
                <a:ea typeface="Open Sauce Bold"/>
                <a:cs typeface="Open Sauce Bold"/>
                <a:sym typeface="Open Sauce Bold"/>
              </a:rPr>
              <a:t>Resilience:</a:t>
            </a:r>
            <a:r>
              <a:rPr lang="en-US" sz="2499">
                <a:solidFill>
                  <a:srgbClr val="331B0D"/>
                </a:solidFill>
                <a:latin typeface="Open Sauce"/>
                <a:ea typeface="Open Sauce"/>
                <a:cs typeface="Open Sauce"/>
                <a:sym typeface="Open Sauce"/>
              </a:rPr>
              <a:t> The live trackbar HUD proved that the system could be tuned on-the-fly to adapt to changing laboratory lighting conditions.</a:t>
            </a:r>
          </a:p>
          <a:p>
            <a:pPr algn="l">
              <a:lnSpc>
                <a:spcPts val="3499"/>
              </a:lnSpc>
              <a:spcBef>
                <a:spcPct val="0"/>
              </a:spcBef>
            </a:pPr>
          </a:p>
          <a:p>
            <a:pPr algn="l">
              <a:lnSpc>
                <a:spcPts val="3499"/>
              </a:lnSpc>
              <a:spcBef>
                <a:spcPct val="0"/>
              </a:spcBef>
            </a:pPr>
          </a:p>
          <a:p>
            <a:pPr algn="l" marL="539749" indent="-269875" lvl="1">
              <a:lnSpc>
                <a:spcPts val="3499"/>
              </a:lnSpc>
              <a:buFont typeface="Arial"/>
              <a:buChar char="•"/>
            </a:pPr>
            <a:r>
              <a:rPr lang="en-US" sz="2499">
                <a:solidFill>
                  <a:srgbClr val="331B0D"/>
                </a:solidFill>
                <a:latin typeface="Open Sauce"/>
                <a:ea typeface="Open Sauce"/>
                <a:cs typeface="Open Sauce"/>
                <a:sym typeface="Open Sauce"/>
              </a:rPr>
              <a:t>This Innovation Lab project proves that software-driven analytical instruments can outperform rigid hardware setups in complex fluid dynamics. We successfully built a highly resilient, low-cost sensor that can easily be scaled to calculate terminal velocity and other hydrodynamic properties in industrial setups."</a:t>
            </a:r>
          </a:p>
        </p:txBody>
      </p:sp>
      <p:sp>
        <p:nvSpPr>
          <p:cNvPr name="TextBox 4" id="4"/>
          <p:cNvSpPr txBox="true"/>
          <p:nvPr/>
        </p:nvSpPr>
        <p:spPr>
          <a:xfrm rot="0">
            <a:off x="1046861" y="914400"/>
            <a:ext cx="16194278" cy="1028700"/>
          </a:xfrm>
          <a:prstGeom prst="rect">
            <a:avLst/>
          </a:prstGeom>
        </p:spPr>
        <p:txBody>
          <a:bodyPr anchor="t" rtlCol="false" tIns="0" lIns="0" bIns="0" rIns="0">
            <a:spAutoFit/>
          </a:bodyPr>
          <a:lstStyle/>
          <a:p>
            <a:pPr algn="ctr">
              <a:lnSpc>
                <a:spcPts val="8400"/>
              </a:lnSpc>
            </a:pPr>
            <a:r>
              <a:rPr lang="en-US" sz="6000" b="true">
                <a:solidFill>
                  <a:srgbClr val="331B0D"/>
                </a:solidFill>
                <a:latin typeface="Canva Sans Bold"/>
                <a:ea typeface="Canva Sans Bold"/>
                <a:cs typeface="Canva Sans Bold"/>
                <a:sym typeface="Canva Sans Bold"/>
              </a:rPr>
              <a:t>Conclusion</a:t>
            </a:r>
            <a:r>
              <a:rPr lang="en-US" b="true" sz="6000">
                <a:solidFill>
                  <a:srgbClr val="331B0D"/>
                </a:solidFill>
                <a:latin typeface="Canva Sans Bold"/>
                <a:ea typeface="Canva Sans Bold"/>
                <a:cs typeface="Canva Sans Bold"/>
                <a:sym typeface="Canva Sans Bold"/>
              </a:rPr>
              <a:t> &amp; Innovation Lab Takeaways</a:t>
            </a:r>
          </a:p>
        </p:txBody>
      </p:sp>
      <p:sp>
        <p:nvSpPr>
          <p:cNvPr name="TextBox 5" id="5"/>
          <p:cNvSpPr txBox="true"/>
          <p:nvPr/>
        </p:nvSpPr>
        <p:spPr>
          <a:xfrm rot="0">
            <a:off x="1046861" y="2028086"/>
            <a:ext cx="16194278" cy="679450"/>
          </a:xfrm>
          <a:prstGeom prst="rect">
            <a:avLst/>
          </a:prstGeom>
        </p:spPr>
        <p:txBody>
          <a:bodyPr anchor="t" rtlCol="false" tIns="0" lIns="0" bIns="0" rIns="0">
            <a:spAutoFit/>
          </a:bodyPr>
          <a:lstStyle/>
          <a:p>
            <a:pPr algn="ctr">
              <a:lnSpc>
                <a:spcPts val="5599"/>
              </a:lnSpc>
            </a:pPr>
            <a:r>
              <a:rPr lang="en-US" sz="3999" b="true">
                <a:solidFill>
                  <a:srgbClr val="331B0D"/>
                </a:solidFill>
                <a:latin typeface="Canva Sans Bold"/>
                <a:ea typeface="Canva Sans Bold"/>
                <a:cs typeface="Canva Sans Bold"/>
                <a:sym typeface="Canva Sans Bold"/>
              </a:rPr>
              <a:t>In</a:t>
            </a:r>
            <a:r>
              <a:rPr lang="en-US" b="true" sz="3999">
                <a:solidFill>
                  <a:srgbClr val="331B0D"/>
                </a:solidFill>
                <a:latin typeface="Canva Sans Bold"/>
                <a:ea typeface="Canva Sans Bold"/>
                <a:cs typeface="Canva Sans Bold"/>
                <a:sym typeface="Canva Sans Bold"/>
              </a:rPr>
              <a:t>dustry 4.0 Applicability</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5340720" y="4399807"/>
            <a:ext cx="7606561" cy="1735035"/>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DAHHB6UU2h0</dc:identifier>
  <dcterms:modified xsi:type="dcterms:W3CDTF">2011-08-01T06:04:30Z</dcterms:modified>
  <cp:revision>1</cp:revision>
  <dc:title>White Beige and Brown Simple Minimalist Clean Final Project Presentation</dc:title>
</cp:coreProperties>
</file>